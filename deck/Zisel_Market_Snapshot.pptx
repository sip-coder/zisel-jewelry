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sip-coder.github.io/zisel-jewelry/" TargetMode="Externa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skydiamonds.com/pages/about-us" TargetMode="External"/><Relationship Id="rId2" Type="http://schemas.openxmlformats.org/officeDocument/2006/relationships/hyperlink" Target="https://maps.apple.com/place?place-id=IA3FBA82EF05B13F4" TargetMode="External"/><Relationship Id="rId3" Type="http://schemas.openxmlformats.org/officeDocument/2006/relationships/hyperlink" Target="https://www.thejewelers.com/frequently-asked-questions/" TargetMode="External"/><Relationship Id="rId4" Type="http://schemas.openxmlformats.org/officeDocument/2006/relationships/hyperlink" Target="https://www.thejewelers.com/your-vision-our-craft-custom-jewelry-in-las-vegas/" TargetMode="External"/><Relationship Id="rId5" Type="http://schemas.openxmlformats.org/officeDocument/2006/relationships/hyperlink" Target="https://dandrhouseofdiamonds.com/engagement-rings/" TargetMode="External"/><Relationship Id="rId6" Type="http://schemas.openxmlformats.org/officeDocument/2006/relationships/hyperlink" Target="https://www.chamberofcommerce.com/business-directory/nevada/las-vegas/jewelry-store/2033800758-d-r-house-of-diamonds" TargetMode="External"/><Relationship Id="rId7" Type="http://schemas.openxmlformats.org/officeDocument/2006/relationships/hyperlink" Target="https://mjchristensen.com/pages/custom-jewelry-center" TargetMode="External"/><Relationship Id="rId8" Type="http://schemas.openxmlformats.org/officeDocument/2006/relationships/hyperlink" Target="https://mjchristensen.com/pages/events" TargetMode="External"/><Relationship Id="rId9" Type="http://schemas.openxmlformats.org/officeDocument/2006/relationships/hyperlink" Target="https://exa.ai/library/places?q=74920e130f585e1c" TargetMode="External"/><Relationship Id="rId10" Type="http://schemas.openxmlformats.org/officeDocument/2006/relationships/hyperlink" Target="https://dumoni.com/pages/custom-jewelry" TargetMode="External"/><Relationship Id="rId11" Type="http://schemas.openxmlformats.org/officeDocument/2006/relationships/hyperlink" Target="https://dumoni.com/collections/chains" TargetMode="External"/><Relationship Id="rId12" Type="http://schemas.openxmlformats.org/officeDocument/2006/relationships/hyperlink" Target="https://viralist.ai/instagram/creators/dumonijewelers" TargetMode="External"/><Relationship Id="rId13" Type="http://schemas.openxmlformats.org/officeDocument/2006/relationships/hyperlink" Target="https://www.jeffreywhite.com/post/custom-engagement-ring-timeline-in-las-vegas" TargetMode="External"/><Relationship Id="rId14" Type="http://schemas.openxmlformats.org/officeDocument/2006/relationships/hyperlink" Target="https://www.brilliantearth.com/6-in.-Certified-Lab-Diamond-Classic-Tennis-Bracelet-(3-ct.-tw.)-14K-White-Gold-BE5DTBS603LC/" TargetMode="External"/><Relationship Id="rId15" Type="http://schemas.openxmlformats.org/officeDocument/2006/relationships/hyperlink" Target="https://www.brilliantearth.com/guides/jewelry-trends/" TargetMode="External"/><Relationship Id="rId16" Type="http://schemas.openxmlformats.org/officeDocument/2006/relationships/hyperlink" Target="https://www.bluenile.com/jewelry/bracelets/7-four-prong-diamond-tennis-bracelet-in-14k-white-gold-2-ct-tw-h-i-si1-si2-item-252192" TargetMode="External"/><Relationship Id="rId17" Type="http://schemas.openxmlformats.org/officeDocument/2006/relationships/hyperlink" Target="https://www.bluenile.com/jewelry/earrings/halo-diamond-stud-earrings-in-14k-white-gold-1-ct-tw-h-i-si1-si2-item-251703" TargetMode="External"/><Relationship Id="rId18" Type="http://schemas.openxmlformats.org/officeDocument/2006/relationships/hyperlink" Target="https://www.bluenile.com/jewelry/earrings/six-prong-round-diamond-stud-earrings-in-14k-white-gold-1-ct-tw-h-i-si1-si2-item-251678" TargetMode="External"/><Relationship Id="rId19" Type="http://schemas.openxmlformats.org/officeDocument/2006/relationships/hyperlink" Target="https://www.kay.com/kay-labgrown-diamonds-solitaire-stud-earrings-1-ct-tw-14k-white-gold-fsi2/p/V-190281701" TargetMode="External"/><Relationship Id="rId20" Type="http://schemas.openxmlformats.org/officeDocument/2006/relationships/hyperlink" Target="https://www.kay.com/rope-chain-semisolid-14k-yellow-gold-18/p/V-715835702" TargetMode="External"/><Relationship Id="rId21" Type="http://schemas.openxmlformats.org/officeDocument/2006/relationships/hyperlink" Target="https://www.vanadams.com/pages/black-friday-2025" TargetMode="External"/><Relationship Id="rId22" Type="http://schemas.openxmlformats.org/officeDocument/2006/relationships/hyperlink" Target="https://www.tiffany.com/jewelry/bracelets/tiffany-victoria-platinum-diamond-bracelets-1526182323.html" TargetMode="External"/><Relationship Id="rId23" Type="http://schemas.openxmlformats.org/officeDocument/2006/relationships/hyperlink" Target="https://www.wynnlasvegas.com/shops" TargetMode="External"/><Relationship Id="rId24" Type="http://schemas.openxmlformats.org/officeDocument/2006/relationships/hyperlink" Target="https://mejuri.com/company/mejuri-events" TargetMode="External"/><Relationship Id="rId25" Type="http://schemas.openxmlformats.org/officeDocument/2006/relationships/hyperlink" Target="https://www.linkedin.com/posts/clanceysarah_looking-for-a-unique-way-to-celebrate-your-activity-7388609929756119040-83qa" TargetMode="External"/><Relationship Id="rId26" Type="http://schemas.openxmlformats.org/officeDocument/2006/relationships/hyperlink" Target="https://parklanejewelry.com/host" TargetMode="External"/><Relationship Id="rId27" Type="http://schemas.openxmlformats.org/officeDocument/2006/relationships/hyperlink" Target="https://touchstonecrystal.com/regional/hosting" TargetMode="External"/><Relationship Id="rId28" Type="http://schemas.openxmlformats.org/officeDocument/2006/relationships/hyperlink" Target="https://thefineryhouse.com/pages/the-traveling-jeweler" TargetMode="External"/><Relationship Id="rId29" Type="http://schemas.openxmlformats.org/officeDocument/2006/relationships/hyperlink" Target="https://beyondtworings.com/blogs/beyond-two-rings-journal/holiday-2026-jewelry-trends-gift-ideas" TargetMode="External"/><Relationship Id="rId30" Type="http://schemas.openxmlformats.org/officeDocument/2006/relationships/hyperlink" Target="https://www.daintylondon.com/blogs/news/jewellery-gift-trends-2026-whats-hot-right-now" TargetMode="External"/><Relationship Id="rId31" Type="http://schemas.openxmlformats.org/officeDocument/2006/relationships/hyperlink" Target="https://jewelry.vegas/how-where-want-sell-gold-chain-las-vegas/" TargetMode="External"/><Relationship Id="rId32" Type="http://schemas.openxmlformats.org/officeDocument/2006/relationships/hyperlink" Target="https://www.cnbc.com/2026/09/26/whats-behind-the-fall-of-diamond-prices-to-record-lows.html" TargetMode="External"/><Relationship Id="rId33" Type="http://schemas.openxmlformats.org/officeDocument/2006/relationships/hyperlink" Target="https://www.ftc.gov/business-guidance/resources/loupe-advertising-diamond-gemstones-pearls" TargetMode="External"/><Relationship Id="rId34" Type="http://schemas.openxmlformats.org/officeDocument/2006/relationships/hyperlink" Target="https://www.gia.edu/gia-news-press/new-descriptive-terminology-for-laboratory-grown-diamonds" TargetMode="External"/><Relationship Id="rId35" Type="http://schemas.openxmlformats.org/officeDocument/2006/relationships/hyperlink" Target="https://ajluxe.com/blogs/jewelry-guide/hanukkah-jewelry-gifts-2026" TargetMode="External"/><Relationship Id="rId36" Type="http://schemas.openxmlformats.org/officeDocument/2006/relationships/hyperlink" Target="https://www.usatoday.com/story/shopping/2026/01/15/valentines-day-2026-gifts-for-her-jewelry-chocolate/88196291007/" TargetMode="External"/><Relationship Id="rId37" Type="http://schemas.openxmlformats.org/officeDocument/2006/relationships/slideLayout" Target="../slideLayouts/slideLayout1.xml"/><Relationship Id="rId38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0"/>
            <a:ext cx="5425135" cy="6858000"/>
          </a:xfrm>
          <a:prstGeom prst="rect">
            <a:avLst/>
          </a:prstGeom>
          <a:solidFill>
            <a:srgbClr val="0F2142"/>
          </a:solidFill>
          <a:ln w="12700">
            <a:solidFill>
              <a:srgbClr val="0F2142"/>
            </a:solidFill>
            <a:prstDash val="solid"/>
          </a:ln>
        </p:spPr>
      </p:sp>
      <p:pic>
        <p:nvPicPr>
          <p:cNvPr id="3" name="Image 0" descr="/workspace/jewelry/research/deck_build/logo_iv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74520"/>
            <a:ext cx="4572000" cy="26785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06640" y="2103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6A1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SNAPSHOT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406640" y="260604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Who you’re up against, where you can win, and what to decide next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406640" y="4526280"/>
            <a:ext cx="822960" cy="0"/>
          </a:xfrm>
          <a:prstGeom prst="line">
            <a:avLst/>
          </a:prstGeom>
          <a:noFill/>
          <a:ln w="25400">
            <a:solidFill>
              <a:srgbClr val="C6A15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06640" y="47091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 Vegas  |  Holiday 2026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406640" y="5120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6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by Jonathan Yu  | 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142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Zisel</a:t>
            </a:r>
            <a:r>
              <a:rPr lang="en-US" sz="100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Market Snapshot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0F2142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Bottom line: post your prices, and host the party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822960" cy="0"/>
          </a:xfrm>
          <a:prstGeom prst="line">
            <a:avLst/>
          </a:prstGeom>
          <a:noFill/>
          <a:ln w="25400">
            <a:solidFill>
              <a:srgbClr val="C6A1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659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dirty="0">
                <a:solidFill>
                  <a:srgbClr val="C6A15B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1</a:t>
            </a:r>
            <a:endParaRPr lang="en-US" sz="66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3383280" cy="0"/>
          </a:xfrm>
          <a:prstGeom prst="line">
            <a:avLst/>
          </a:prstGeom>
          <a:noFill/>
          <a:ln w="12700">
            <a:solidFill>
              <a:srgbClr val="DDD5C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3832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F2142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Vegas jewelers all sound the same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Wholesale roots, private appointments, lifetime care. Every local says it.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325112" y="19659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dirty="0">
                <a:solidFill>
                  <a:srgbClr val="C6A15B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2</a:t>
            </a:r>
            <a:endParaRPr lang="en-US" sz="6600" dirty="0"/>
          </a:p>
        </p:txBody>
      </p:sp>
      <p:sp>
        <p:nvSpPr>
          <p:cNvPr id="11" name="Shape 9"/>
          <p:cNvSpPr/>
          <p:nvPr/>
        </p:nvSpPr>
        <p:spPr>
          <a:xfrm>
            <a:off x="4325112" y="3200400"/>
            <a:ext cx="3383280" cy="0"/>
          </a:xfrm>
          <a:prstGeom prst="line">
            <a:avLst/>
          </a:prstGeom>
          <a:noFill/>
          <a:ln w="12700">
            <a:solidFill>
              <a:srgbClr val="DDD5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25112" y="33832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F2142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Two lanes are wide open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325112" y="42976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local posts its prices online, and no fine jeweler hosts showing parties.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101584" y="19659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dirty="0">
                <a:solidFill>
                  <a:srgbClr val="C6A15B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3</a:t>
            </a:r>
            <a:endParaRPr lang="en-US" sz="6600" dirty="0"/>
          </a:p>
        </p:txBody>
      </p:sp>
      <p:sp>
        <p:nvSpPr>
          <p:cNvPr id="15" name="Shape 13"/>
          <p:cNvSpPr/>
          <p:nvPr/>
        </p:nvSpPr>
        <p:spPr>
          <a:xfrm>
            <a:off x="8101584" y="3200400"/>
            <a:ext cx="3383280" cy="0"/>
          </a:xfrm>
          <a:prstGeom prst="line">
            <a:avLst/>
          </a:prstGeom>
          <a:noFill/>
          <a:ln w="12700">
            <a:solidFill>
              <a:srgbClr val="DDD5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01584" y="33832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F2142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Start small and sharp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101584" y="42976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Tennis bracelets, diamond studs, and gold chains, priced below the online stores.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48640" y="6053328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Based on our review of 15 competitors (8 Las Vegas jewelers, 4 online/mall, 3 luxury), October 10, 2026. Points 2 and 3 are our recommendations.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142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Zisel</a:t>
            </a:r>
            <a:r>
              <a:rPr lang="en-US" sz="100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Market Snapshot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0F2142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Three kinds of competitors. The locals are your real fight.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822960" cy="0"/>
          </a:xfrm>
          <a:prstGeom prst="line">
            <a:avLst/>
          </a:prstGeom>
          <a:noFill/>
          <a:ln w="25400">
            <a:solidFill>
              <a:srgbClr val="C6A1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3502152" cy="3840480"/>
          </a:xfrm>
          <a:prstGeom prst="rect">
            <a:avLst/>
          </a:prstGeom>
          <a:solidFill>
            <a:srgbClr val="0F2142"/>
          </a:solidFill>
          <a:ln w="12700">
            <a:solidFill>
              <a:srgbClr val="0F21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A1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TIER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Las Vegas locals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5DA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direct competition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3246120"/>
            <a:ext cx="2862072" cy="0"/>
          </a:xfrm>
          <a:prstGeom prst="line">
            <a:avLst/>
          </a:prstGeom>
          <a:noFill/>
          <a:ln w="12700">
            <a:solidFill>
              <a:srgbClr val="3445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383280"/>
            <a:ext cx="29535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Sky Diamonds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Jewelers of Las Vegas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D&amp;R House of Diamonds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MJ Christensen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Dumoni Jewelers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DiamondsNColors, The Diamond Store, Jeffrey White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25112" y="1645920"/>
            <a:ext cx="3502152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A1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TIER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45152" y="224028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2142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Online and mall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45152" y="274320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buyers check prices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45152" y="3246120"/>
            <a:ext cx="2862072" cy="0"/>
          </a:xfrm>
          <a:prstGeom prst="line">
            <a:avLst/>
          </a:prstGeom>
          <a:noFill/>
          <a:ln w="12700">
            <a:solidFill>
              <a:srgbClr val="DDD5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3383280"/>
            <a:ext cx="29535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Brilliant Earth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Blue Nile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Mejuri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Kay (Meadows Mall)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101584" y="1645920"/>
            <a:ext cx="3502152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21624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A1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TIER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21624" y="224028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2142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Strip luxury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421624" y="274320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dream reference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421624" y="3246120"/>
            <a:ext cx="2862072" cy="0"/>
          </a:xfrm>
          <a:prstGeom prst="line">
            <a:avLst/>
          </a:prstGeom>
          <a:noFill/>
          <a:ln w="12700">
            <a:solidFill>
              <a:srgbClr val="DDD5C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21624" y="3383280"/>
            <a:ext cx="29535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Tiffany &amp; Co.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Cartier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Van Cleef &amp; Arpels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Graff and Bulgari (Shops at Wynn)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A1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Recommendation:  </a:t>
            </a:r>
            <a:r>
              <a:rPr lang="en-US" sz="1500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compete with the locals, price against online, and borrow ideas from luxury.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142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Zisel</a:t>
            </a:r>
            <a:r>
              <a:rPr lang="en-US" sz="100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Market Snapshot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0F2142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The locals win on trust built over decades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822960" cy="0"/>
          </a:xfrm>
          <a:prstGeom prst="line">
            <a:avLst/>
          </a:prstGeom>
          <a:noFill/>
          <a:ln w="25400">
            <a:solidFill>
              <a:srgbClr val="C6A15B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840480"/>
                <a:gridCol w="4416552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Jeweler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What they win on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Proof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4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2142"/>
                          </a:solidFill>
                          <a:latin typeface="Bodoni Moda" pitchFamily="34" charset="0"/>
                          <a:ea typeface="Bodoni Moda" pitchFamily="34" charset="-122"/>
                          <a:cs typeface="Bodoni Moda" pitchFamily="34" charset="-120"/>
                        </a:rPr>
                        <a:t>Sky Diamonds</a:t>
                      </a:r>
                      <a:endParaRPr lang="en-US" sz="1600" dirty="0">
                        <a:latin typeface="Bodoni Moda" charset="0"/>
                        <a:ea typeface="Bodoni Moda" charset="0"/>
                        <a:cs typeface="Bodoni Moda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2142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Ex-wholesale family: “no brand name markup”</a:t>
                      </a:r>
                      <a:endParaRPr lang="en-US" sz="13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2142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40+ years wholesaling; 4.8 stars on 136 Yelp reviews</a:t>
                      </a:r>
                      <a:endParaRPr lang="en-US" sz="13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2142"/>
                          </a:solidFill>
                          <a:latin typeface="Bodoni Moda" pitchFamily="34" charset="0"/>
                          <a:ea typeface="Bodoni Moda" pitchFamily="34" charset="-122"/>
                          <a:cs typeface="Bodoni Moda" pitchFamily="34" charset="-120"/>
                        </a:rPr>
                        <a:t>The Jewelers of Las Vegas</a:t>
                      </a:r>
                      <a:endParaRPr lang="en-US" sz="1600" dirty="0">
                        <a:latin typeface="Bodoni Moda" charset="0"/>
                        <a:ea typeface="Bodoni Moda" charset="0"/>
                        <a:cs typeface="Bodoni Moda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2142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Size and history</a:t>
                      </a:r>
                      <a:endParaRPr lang="en-US" sz="13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2142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Family-owned since 1976; 3 locations; Best of Las Vegas every year since 2008</a:t>
                      </a:r>
                      <a:endParaRPr lang="en-US" sz="13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2142"/>
                          </a:solidFill>
                          <a:latin typeface="Bodoni Moda" pitchFamily="34" charset="0"/>
                          <a:ea typeface="Bodoni Moda" pitchFamily="34" charset="-122"/>
                          <a:cs typeface="Bodoni Moda" pitchFamily="34" charset="-120"/>
                        </a:rPr>
                        <a:t>D&amp;R House of Diamonds</a:t>
                      </a:r>
                      <a:endParaRPr lang="en-US" sz="1600" dirty="0">
                        <a:latin typeface="Bodoni Moda" charset="0"/>
                        <a:ea typeface="Bodoni Moda" charset="0"/>
                        <a:cs typeface="Bodoni Moda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2142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Private office: you meet the two owners</a:t>
                      </a:r>
                      <a:endParaRPr lang="en-US" sz="13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2142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Appointment only; 4.9 stars on about 200 reviews</a:t>
                      </a:r>
                      <a:endParaRPr lang="en-US" sz="13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2142"/>
                          </a:solidFill>
                          <a:latin typeface="Bodoni Moda" pitchFamily="34" charset="0"/>
                          <a:ea typeface="Bodoni Moda" pitchFamily="34" charset="-122"/>
                          <a:cs typeface="Bodoni Moda" pitchFamily="34" charset="-120"/>
                        </a:rPr>
                        <a:t>MJ Christensen</a:t>
                      </a:r>
                      <a:endParaRPr lang="en-US" sz="1600" dirty="0">
                        <a:latin typeface="Bodoni Moda" charset="0"/>
                        <a:ea typeface="Bodoni Moda" charset="0"/>
                        <a:cs typeface="Bodoni Moda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2142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The established name, plus events</a:t>
                      </a:r>
                      <a:endParaRPr lang="en-US" sz="13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2142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80+ years; 4.9 stars on about 2,500 Google reviews</a:t>
                      </a:r>
                      <a:endParaRPr lang="en-US" sz="13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2142"/>
                          </a:solidFill>
                          <a:latin typeface="Bodoni Moda" pitchFamily="34" charset="0"/>
                          <a:ea typeface="Bodoni Moda" pitchFamily="34" charset="-122"/>
                          <a:cs typeface="Bodoni Moda" pitchFamily="34" charset="-120"/>
                        </a:rPr>
                        <a:t>Dumoni Jewelers</a:t>
                      </a:r>
                      <a:endParaRPr lang="en-US" sz="1600" dirty="0">
                        <a:latin typeface="Bodoni Moda" charset="0"/>
                        <a:ea typeface="Bodoni Moda" charset="0"/>
                        <a:cs typeface="Bodoni Moda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2142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 gold, with prices posted</a:t>
                      </a:r>
                      <a:endParaRPr lang="en-US" sz="13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2142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Full price menu online; about 48,400 Instagram followers</a:t>
                      </a:r>
                      <a:endParaRPr lang="en-US" sz="13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532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A1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it means:  </a:t>
            </a:r>
            <a:r>
              <a:rPr lang="en-US" sz="1500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Zisel is new, so it can’t win on years. It has to win on openness.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6053328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Sources: company websites, Yelp via Apple Maps, Chamber of Commerce, Instagram count via a third-party tracker. Checked October 10, 2026.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Zisel</a:t>
            </a:r>
            <a:r>
              <a:rPr lang="en-US" sz="1000" dirty="0">
                <a:solidFill>
                  <a:srgbClr val="AEB6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Market Snapshot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FFFFFF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Two lanes nobody in Las Vegas owns yet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822960" cy="0"/>
          </a:xfrm>
          <a:prstGeom prst="line">
            <a:avLst/>
          </a:prstGeom>
          <a:noFill/>
          <a:ln w="25400">
            <a:solidFill>
              <a:srgbClr val="C6A1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5408676" cy="3429000"/>
          </a:xfrm>
          <a:prstGeom prst="rect">
            <a:avLst/>
          </a:prstGeom>
          <a:solidFill>
            <a:srgbClr val="17305A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194560"/>
            <a:ext cx="502920" cy="502920"/>
          </a:xfrm>
          <a:prstGeom prst="diamond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1640" y="2130552"/>
            <a:ext cx="40370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Posted wholesale prices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60120" y="3063240"/>
            <a:ext cx="45857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Almost no Las Vegas independent shows prices online. The online stores all do.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60120" y="4160520"/>
            <a:ext cx="4585716" cy="0"/>
          </a:xfrm>
          <a:prstGeom prst="line">
            <a:avLst/>
          </a:prstGeom>
          <a:noFill/>
          <a:ln w="12700">
            <a:solidFill>
              <a:srgbClr val="3445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343400"/>
            <a:ext cx="45857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5DA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Proof it can work here: Dumoni posts a full price menu.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31636" y="1783080"/>
            <a:ext cx="5408676" cy="3429000"/>
          </a:xfrm>
          <a:prstGeom prst="rect">
            <a:avLst/>
          </a:prstGeom>
          <a:solidFill>
            <a:srgbClr val="17305A"/>
          </a:solidFill>
          <a:ln w="15875">
            <a:solidFill>
              <a:srgbClr val="C6A15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43116" y="2194560"/>
            <a:ext cx="502920" cy="502920"/>
          </a:xfrm>
          <a:prstGeom prst="diamond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43116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74636" y="2130552"/>
            <a:ext cx="40370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Hosted showing parties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643116" y="3063240"/>
            <a:ext cx="45857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Las Vegas fine jeweler we found markets them.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643116" y="4160520"/>
            <a:ext cx="4585716" cy="0"/>
          </a:xfrm>
          <a:prstGeom prst="line">
            <a:avLst/>
          </a:prstGeom>
          <a:noFill/>
          <a:ln w="12700">
            <a:solidFill>
              <a:srgbClr val="3445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43116" y="4343400"/>
            <a:ext cx="45857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5DA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 this belongs to costume and direct-sales brands like Park Lane and Touchstone.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54406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A1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Recommendation:  </a:t>
            </a:r>
            <a:r>
              <a:rPr lang="en-US" sz="1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own both. Prices make “wholesale” provable; parties bring buyers to you.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6053328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rgbClr val="AEB6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our competitor research, October 10, 2026; Park Lane and Touchstone host program pages.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142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Zisel</a:t>
            </a:r>
            <a:r>
              <a:rPr lang="en-US" sz="100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Market Snapshot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0F2142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These are the prices your customers will compare you to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822960" cy="0"/>
          </a:xfrm>
          <a:prstGeom prst="line">
            <a:avLst/>
          </a:prstGeom>
          <a:noFill/>
          <a:ln w="25400">
            <a:solidFill>
              <a:srgbClr val="C6A15B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7315200" cy="914400"/>
        </p:xfrm>
        <a:graphic>
          <a:graphicData uri="http://schemas.openxmlformats.org/drawingml/2006/table">
            <a:tbl>
              <a:tblPr/>
              <a:tblGrid>
                <a:gridCol w="3520440"/>
                <a:gridCol w="1783080"/>
                <a:gridCol w="20116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What they’ll compare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Where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4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Price to beat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4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2142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Lab-grown diamond studs, 1 ct total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2142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Kay (sale)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F2142"/>
                          </a:solidFill>
                          <a:latin typeface="Bodoni Moda" pitchFamily="34" charset="0"/>
                          <a:ea typeface="Bodoni Moda" pitchFamily="34" charset="-122"/>
                          <a:cs typeface="Bodoni Moda" pitchFamily="34" charset="-120"/>
                        </a:rPr>
                        <a:t>$909.99</a:t>
                      </a:r>
                      <a:endParaRPr lang="en-US" sz="1800" dirty="0">
                        <a:latin typeface="Bodoni Moda" charset="0"/>
                        <a:ea typeface="Bodoni Moda" charset="0"/>
                        <a:cs typeface="Bodoni Moda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2142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Natural diamond studs, 1 ct total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2142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Blue Nile (sale)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F2142"/>
                          </a:solidFill>
                          <a:latin typeface="Bodoni Moda" pitchFamily="34" charset="0"/>
                          <a:ea typeface="Bodoni Moda" pitchFamily="34" charset="-122"/>
                          <a:cs typeface="Bodoni Moda" pitchFamily="34" charset="-120"/>
                        </a:rPr>
                        <a:t>$1,785 to $2,674</a:t>
                      </a:r>
                      <a:endParaRPr lang="en-US" sz="1800" dirty="0">
                        <a:latin typeface="Bodoni Moda" charset="0"/>
                        <a:ea typeface="Bodoni Moda" charset="0"/>
                        <a:cs typeface="Bodoni Moda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2142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Lab-grown tennis bracelet, 3 ct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2142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Brilliant Earth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F2142"/>
                          </a:solidFill>
                          <a:latin typeface="Bodoni Moda" pitchFamily="34" charset="0"/>
                          <a:ea typeface="Bodoni Moda" pitchFamily="34" charset="-122"/>
                          <a:cs typeface="Bodoni Moda" pitchFamily="34" charset="-120"/>
                        </a:rPr>
                        <a:t>$2,850</a:t>
                      </a:r>
                      <a:endParaRPr lang="en-US" sz="1800" dirty="0">
                        <a:latin typeface="Bodoni Moda" charset="0"/>
                        <a:ea typeface="Bodoni Moda" charset="0"/>
                        <a:cs typeface="Bodoni Moda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2142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Natural tennis bracelet, 2 ct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2142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Blue Nile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F2142"/>
                          </a:solidFill>
                          <a:latin typeface="Bodoni Moda" pitchFamily="34" charset="0"/>
                          <a:ea typeface="Bodoni Moda" pitchFamily="34" charset="-122"/>
                          <a:cs typeface="Bodoni Moda" pitchFamily="34" charset="-120"/>
                        </a:rPr>
                        <a:t>$3,730</a:t>
                      </a:r>
                      <a:endParaRPr lang="en-US" sz="1800" dirty="0">
                        <a:latin typeface="Bodoni Moda" charset="0"/>
                        <a:ea typeface="Bodoni Moda" charset="0"/>
                        <a:cs typeface="Bodoni Moda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2142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14k gold rope chain, 18 in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2142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Kay (sale)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F2142"/>
                          </a:solidFill>
                          <a:latin typeface="Bodoni Moda" pitchFamily="34" charset="0"/>
                          <a:ea typeface="Bodoni Moda" pitchFamily="34" charset="-122"/>
                          <a:cs typeface="Bodoni Moda" pitchFamily="34" charset="-120"/>
                        </a:rPr>
                        <a:t>$844.99</a:t>
                      </a:r>
                      <a:endParaRPr lang="en-US" sz="1800" dirty="0">
                        <a:latin typeface="Bodoni Moda" charset="0"/>
                        <a:ea typeface="Bodoni Moda" charset="0"/>
                        <a:cs typeface="Bodoni Moda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2142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 mm Cuban chain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2142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Dumoni (Vegas)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F2142"/>
                          </a:solidFill>
                          <a:latin typeface="Bodoni Moda" pitchFamily="34" charset="0"/>
                          <a:ea typeface="Bodoni Moda" pitchFamily="34" charset="-122"/>
                          <a:cs typeface="Bodoni Moda" pitchFamily="34" charset="-120"/>
                        </a:rPr>
                        <a:t>$1,650</a:t>
                      </a:r>
                      <a:endParaRPr lang="en-US" sz="1800" dirty="0">
                        <a:latin typeface="Bodoni Moda" charset="0"/>
                        <a:ea typeface="Bodoni Moda" charset="0"/>
                        <a:cs typeface="Bodoni Moda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C"/>
                    </a:solidFill>
                  </a:tcPr>
                </a:tc>
              </a:tr>
            </a:tbl>
          </a:graphicData>
        </a:graphic>
      </p:graphicFrame>
      <p:sp>
        <p:nvSpPr>
          <p:cNvPr id="13" name="Shape 4"/>
          <p:cNvSpPr/>
          <p:nvPr/>
        </p:nvSpPr>
        <p:spPr>
          <a:xfrm>
            <a:off x="8229600" y="1691640"/>
            <a:ext cx="3410712" cy="3840480"/>
          </a:xfrm>
          <a:prstGeom prst="rect">
            <a:avLst/>
          </a:prstGeom>
          <a:solidFill>
            <a:srgbClr val="0F2142"/>
          </a:solidFill>
          <a:ln w="12700">
            <a:solidFill>
              <a:srgbClr val="0F21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03920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6A1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503920" y="22860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Post 5 to 8 “from” prices that visibly beat these on the same specs.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503920" y="3931920"/>
            <a:ext cx="2834640" cy="0"/>
          </a:xfrm>
          <a:prstGeom prst="line">
            <a:avLst/>
          </a:prstGeom>
          <a:noFill/>
          <a:ln w="12700">
            <a:solidFill>
              <a:srgbClr val="34456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0" y="40690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A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Watch out: holiday promos already go lower, like a 3 ct lab tennis bracelet at $1,595 (Van Adams, Black Friday 2025). Tiffany’s tennis bracelet is $16,400.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053328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Listed prices seen October 10, 2026 on each retailer’s site; Van Adams from its Black Friday 2025 page. Most items are 14k gold. Diamond quality varies slightly by retailer.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142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Zisel</a:t>
            </a:r>
            <a:r>
              <a:rPr lang="en-US" sz="100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Market Snapshot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0F2142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Holiday buyers want tennis bracelets, studs, and gold chains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822960" cy="0"/>
          </a:xfrm>
          <a:prstGeom prst="line">
            <a:avLst/>
          </a:prstGeom>
          <a:noFill/>
          <a:ln w="25400">
            <a:solidFill>
              <a:srgbClr val="C6A1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A1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STYLES FOR HOLIDAY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76272"/>
            <a:ext cx="237744" cy="237744"/>
          </a:xfrm>
          <a:prstGeom prst="diamond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10312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Tennis bracelets</a:t>
            </a:r>
            <a:r>
              <a:rPr lang="en-US" sz="145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the #1 holiday gift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779776"/>
            <a:ext cx="237744" cy="237744"/>
          </a:xfrm>
          <a:prstGeom prst="diamond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70662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Diamond studs</a:t>
            </a:r>
            <a:r>
              <a:rPr lang="en-US" sz="145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the classic first fine-jewelry gift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237744" cy="237744"/>
          </a:xfrm>
          <a:prstGeom prst="diamond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31012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Tennis necklaces</a:t>
            </a:r>
            <a:r>
              <a:rPr lang="en-US" sz="145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right behind bracelets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986784"/>
            <a:ext cx="237744" cy="237744"/>
          </a:xfrm>
          <a:prstGeom prst="diamond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91363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Gold chains</a:t>
            </a:r>
            <a:r>
              <a:rPr lang="en-US" sz="145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Cuban (the Vegas favorite), rope, paperclip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4590288"/>
            <a:ext cx="237744" cy="237744"/>
          </a:xfrm>
          <a:prstGeom prst="diamond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51713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Huggies and sculptural hoops</a:t>
            </a:r>
            <a:r>
              <a:rPr lang="en-US" sz="145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beating plain hoops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5193792"/>
            <a:ext cx="237744" cy="237744"/>
          </a:xfrm>
          <a:prstGeom prst="diamond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512064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Pendants and initials</a:t>
            </a:r>
            <a:r>
              <a:rPr lang="en-US" sz="145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incl. Star of David for Hanukkah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675120" y="1691640"/>
            <a:ext cx="496519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95160" y="1828800"/>
            <a:ext cx="4325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2142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Lab vs natural, in plain words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95160" y="2331720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Price of a comparable diamond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95160" y="2697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Lab-grown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092440" y="2743200"/>
            <a:ext cx="437198" cy="274320"/>
          </a:xfrm>
          <a:prstGeom prst="rect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21078" y="2697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about $450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95160" y="3154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Natural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092440" y="3200400"/>
            <a:ext cx="3108960" cy="274320"/>
          </a:xfrm>
          <a:prstGeom prst="rect">
            <a:avLst/>
          </a:prstGeom>
          <a:solidFill>
            <a:srgbClr val="0F2142"/>
          </a:solidFill>
          <a:ln w="12700">
            <a:solidFill>
              <a:srgbClr val="0F21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92440" y="3520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$2,800 to $3,200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995160" y="3931920"/>
            <a:ext cx="4325112" cy="0"/>
          </a:xfrm>
          <a:prstGeom prst="line">
            <a:avLst/>
          </a:prstGeom>
          <a:noFill/>
          <a:ln w="12700">
            <a:solidFill>
              <a:srgbClr val="DDD5C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5160" y="4023360"/>
            <a:ext cx="43251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Lab-grown: </a:t>
            </a:r>
            <a:r>
              <a:rPr lang="en-US" sz="125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much more size for the money. 61% of 2025 engagement rings used one.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Natural: </a:t>
            </a:r>
            <a:r>
              <a:rPr lang="en-US" sz="125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mined. A 1 ct stone averages $3,898, down 51% since 2021.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C6A1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Recommendation: </a:t>
            </a:r>
            <a:r>
              <a:rPr lang="en-US" sz="1250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offer both side by side, clearly labeled.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053328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Sources: National Jeweler (via Beyond Two Rings), Brilliant Earth 2026 trend guide, Dainty London, Nevada Coin Mart; CNBC, Sep 26, 2026 (Rapaport, The Knot, Brilliant Earth prices).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142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Zisel</a:t>
            </a:r>
            <a:r>
              <a:rPr lang="en-US" sz="100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Market Snapshot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0F2142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Showing parties bring the showroom to your customers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822960" cy="0"/>
          </a:xfrm>
          <a:prstGeom prst="line">
            <a:avLst/>
          </a:prstGeom>
          <a:noFill/>
          <a:ln w="25400">
            <a:solidFill>
              <a:srgbClr val="C6A1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91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A1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OTHERS REWARD HOSTS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2142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Mejuri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243230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Holiday Sip &amp; Shop: no fee for 40+ guests, 15% off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9992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2142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Park Lane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332841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Host’s favorite piece for $35, plus $40 credit at 10+ orders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89534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2142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Touchstone Crystal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42245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Host gets 15% to 25% of sales as free credit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79145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2142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The Finery House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48640" y="5120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Host gift: a 3 ct lab diamond at $20,000 in sales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8932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A1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PROPOSAL: ZISEL HOST REWARDS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89320" y="3566160"/>
            <a:ext cx="1810512" cy="1463040"/>
          </a:xfrm>
          <a:prstGeom prst="rect">
            <a:avLst/>
          </a:prstGeom>
          <a:solidFill>
            <a:srgbClr val="4A5D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53912" y="3703320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6A1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53912" y="395020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Host a showing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53912" y="4370832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3E7E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thank-you gift for hosting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909560" y="2926080"/>
            <a:ext cx="1810512" cy="2103120"/>
          </a:xfrm>
          <a:prstGeom prst="rect">
            <a:avLst/>
          </a:prstGeom>
          <a:solidFill>
            <a:srgbClr val="2A3E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74152" y="3063240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6A1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74152" y="331012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Party goal met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74152" y="3730752"/>
            <a:ext cx="15361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3E7E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10% of party sales as jewelry credit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829800" y="2286000"/>
            <a:ext cx="1810512" cy="2743200"/>
          </a:xfrm>
          <a:prstGeom prst="rect">
            <a:avLst/>
          </a:prstGeom>
          <a:solidFill>
            <a:srgbClr val="0F21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94392" y="2423160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6A1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994392" y="267004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Big party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994392" y="3090672"/>
            <a:ext cx="153619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3E7E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15% to 20% credit, plus lab diamond studs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989320" y="5166360"/>
            <a:ext cx="5650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Holiday Sip &amp; Shop idea: </a:t>
            </a:r>
            <a:r>
              <a:rPr lang="en-US" sz="125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evening at Ben’s showroom, invites texted before Thanksgiving, and a free gift with purchase instead of a % discount. You set the goals and numbers.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053328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Sources: Mejuri events page and LinkedIn post; Park Lane, Touchstone Crystal, and The Finery House host pages. Reward percentages in the proposal follow the 10% to 25% market range.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142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Zisel</a:t>
            </a:r>
            <a:r>
              <a:rPr lang="en-US" sz="100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Market Snapshot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0F2142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Website: lead with parties, and explain the wholesale prices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822960" cy="0"/>
          </a:xfrm>
          <a:prstGeom prst="line">
            <a:avLst/>
          </a:prstGeom>
          <a:noFill/>
          <a:ln w="25400">
            <a:solidFill>
              <a:srgbClr val="C6A1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64808" y="1682496"/>
            <a:ext cx="5230368" cy="366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3"/>
            </a:solidFill>
            <a:prstDash val="solid"/>
          </a:ln>
        </p:spPr>
      </p:sp>
      <p:pic>
        <p:nvPicPr>
          <p:cNvPr id="7" name="Image 0" descr="/workspace/jewelry/site/zisel_site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9672" y="1737360"/>
            <a:ext cx="5120640" cy="3556000"/>
          </a:xfrm>
          <a:prstGeom prst="rect">
            <a:avLst/>
          </a:prstGeom>
        </p:spPr>
      </p:pic>
      <p:sp>
        <p:nvSpPr>
          <p:cNvPr id="8" name="Text 5">
            <a:hlinkClick r:id="rId2" tooltip=""/>
          </p:cNvPr>
          <p:cNvSpPr/>
          <p:nvPr/>
        </p:nvSpPr>
        <p:spPr>
          <a:xfrm>
            <a:off x="6519672" y="5430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u="sng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Your draft site today: sip-coder.github.io/zisel-jewelry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16916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A1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NOW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148840"/>
            <a:ext cx="118872" cy="118872"/>
          </a:xfrm>
          <a:prstGeom prst="diamond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2057400"/>
            <a:ext cx="5532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Hours and phone number at the top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496312"/>
            <a:ext cx="118872" cy="118872"/>
          </a:xfrm>
          <a:prstGeom prst="diamond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2404872"/>
            <a:ext cx="5532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real booking calendar to pick a time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2843784"/>
            <a:ext cx="118872" cy="118872"/>
          </a:xfrm>
          <a:prstGeom prst="diamond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2752344"/>
            <a:ext cx="5532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3-point trust strip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191256"/>
            <a:ext cx="118872" cy="118872"/>
          </a:xfrm>
          <a:prstGeom prst="diamond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3099816"/>
            <a:ext cx="5532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Holiday pop-up section with its own dates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3538728"/>
            <a:ext cx="118872" cy="118872"/>
          </a:xfrm>
          <a:prstGeom prst="diamond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3447288"/>
            <a:ext cx="5532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Gift shopping by price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48640" y="3886200"/>
            <a:ext cx="118872" cy="118872"/>
          </a:xfrm>
          <a:prstGeom prst="diamond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3794760"/>
            <a:ext cx="5532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piece labeled lab-grown or natural, with IGI/GIA badge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48640" y="4343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A1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LATER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4800600"/>
            <a:ext cx="118872" cy="118872"/>
          </a:xfrm>
          <a:prstGeom prst="diamond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" y="4709160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Reviews: first name + piece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5148072"/>
            <a:ext cx="118872" cy="118872"/>
          </a:xfrm>
          <a:prstGeom prst="diamond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7240" y="5056632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Virtual appointments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48640" y="5495544"/>
            <a:ext cx="118872" cy="118872"/>
          </a:xfrm>
          <a:prstGeom prst="diamond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7240" y="5404104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 your own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374904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04A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SKIP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749040" y="4800600"/>
            <a:ext cx="118872" cy="118872"/>
          </a:xfrm>
          <a:prstGeom prst="diamond">
            <a:avLst/>
          </a:prstGeom>
          <a:solidFill>
            <a:srgbClr val="A04A3B"/>
          </a:solidFill>
          <a:ln w="12700">
            <a:solidFill>
              <a:srgbClr val="A04A3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977640" y="470916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Promo-code banners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3749040" y="5148072"/>
            <a:ext cx="118872" cy="118872"/>
          </a:xfrm>
          <a:prstGeom prst="diamond">
            <a:avLst/>
          </a:prstGeom>
          <a:solidFill>
            <a:srgbClr val="A04A3B"/>
          </a:solidFill>
          <a:ln w="12700">
            <a:solidFill>
              <a:srgbClr val="A04A3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977640" y="5056632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Giant drop-down menus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48640" y="6053328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Recommendations from our designer’s review of Sky Diamonds, D&amp;R House of Diamonds, The Fine Diamond, Brilliant Earth, Blue Nile, Mejuri, Catbird, and Cartier.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142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Zisel</a:t>
            </a:r>
            <a:r>
              <a:rPr lang="en-US" sz="100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Market Snapshot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0F2142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Five must-dos for trust, and one of them is the law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822960" cy="0"/>
          </a:xfrm>
          <a:prstGeom prst="line">
            <a:avLst/>
          </a:prstGeom>
          <a:noFill/>
          <a:ln w="25400">
            <a:solidFill>
              <a:srgbClr val="C6A1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3502152" cy="1874520"/>
          </a:xfrm>
          <a:prstGeom prst="rect">
            <a:avLst/>
          </a:prstGeom>
          <a:solidFill>
            <a:srgbClr val="0F2142"/>
          </a:solidFill>
          <a:ln w="12700">
            <a:solidFill>
              <a:srgbClr val="0F21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928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6A1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FTC RULE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2999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Say “laboratory-grown” next to “diamond”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770632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A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time: website, texts, and flyers. A footnote or hashtag may not count.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50215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8928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6A1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EXPECTED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17720" y="2148840"/>
            <a:ext cx="2999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2142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A grading report with every center stone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2770632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IGI for lab-grown, GIA for natural. GIA stopped full grades on lab stones in Oct 2025.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50215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8928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6A1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EXPECTED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0" y="2148840"/>
            <a:ext cx="2999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2142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A written warranty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2770632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Blue Nile and Brilliant Earth offer lifetime; Mejuri 2 years.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46020" y="3794760"/>
            <a:ext cx="350215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20340" y="39959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6A1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EXPECTED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20340" y="4251960"/>
            <a:ext cx="2999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2142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A clear returns policy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720340" y="4873752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Online: free 30-day returns. Locals are stricter. Custom is final sale almost everywhere.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40780" y="3794760"/>
            <a:ext cx="350215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5100" y="39959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6A1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EXPECTED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15100" y="4251960"/>
            <a:ext cx="2999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2142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Offer financing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15100" y="4873752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Brilliant Earth: Affirm 0% for up to 36 months.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053328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Sources: FTC Jewelry Guides guidance; GIA and National Jeweler; Blue Nile, Brilliant Earth, Mejuri, Kay, The Jewelers of Las Vegas policies. Items 2 to 5 are recommendations.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142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Zisel</a:t>
            </a:r>
            <a:r>
              <a:rPr lang="en-US" sz="100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Market Snapshot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0F2142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Order-by dates: Hanukkah custom orders are due next week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822960" cy="0"/>
          </a:xfrm>
          <a:prstGeom prst="line">
            <a:avLst/>
          </a:prstGeom>
          <a:noFill/>
          <a:ln w="25400">
            <a:solidFill>
              <a:srgbClr val="C6A1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697480"/>
            <a:ext cx="10908792" cy="0"/>
          </a:xfrm>
          <a:prstGeom prst="line">
            <a:avLst/>
          </a:prstGeom>
          <a:noFill/>
          <a:ln w="25400">
            <a:solidFill>
              <a:srgbClr val="0F21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624328"/>
            <a:ext cx="0" cy="146304"/>
          </a:xfrm>
          <a:prstGeom prst="line">
            <a:avLst/>
          </a:prstGeom>
          <a:noFill/>
          <a:ln w="12700">
            <a:solidFill>
              <a:srgbClr val="0F21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889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94564" y="2624328"/>
            <a:ext cx="0" cy="146304"/>
          </a:xfrm>
          <a:prstGeom prst="line">
            <a:avLst/>
          </a:prstGeom>
          <a:noFill/>
          <a:ln w="12700">
            <a:solidFill>
              <a:srgbClr val="0F21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0284" y="27889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76322" y="2624328"/>
            <a:ext cx="0" cy="146304"/>
          </a:xfrm>
          <a:prstGeom prst="line">
            <a:avLst/>
          </a:prstGeom>
          <a:noFill/>
          <a:ln w="12700">
            <a:solidFill>
              <a:srgbClr val="0F21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2042" y="27889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30806" y="2624328"/>
            <a:ext cx="0" cy="146304"/>
          </a:xfrm>
          <a:prstGeom prst="line">
            <a:avLst/>
          </a:prstGeom>
          <a:noFill/>
          <a:ln w="12700">
            <a:solidFill>
              <a:srgbClr val="0F21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76526" y="27889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585289" y="2624328"/>
            <a:ext cx="0" cy="146304"/>
          </a:xfrm>
          <a:prstGeom prst="line">
            <a:avLst/>
          </a:prstGeom>
          <a:noFill/>
          <a:ln w="12700">
            <a:solidFill>
              <a:srgbClr val="0F21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31009" y="27889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94498" y="2569464"/>
            <a:ext cx="581802" cy="256032"/>
          </a:xfrm>
          <a:prstGeom prst="rect">
            <a:avLst/>
          </a:prstGeom>
          <a:solidFill>
            <a:srgbClr val="0F2142"/>
          </a:solidFill>
          <a:ln w="12700">
            <a:solidFill>
              <a:srgbClr val="0F21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21729" y="2569464"/>
            <a:ext cx="73152" cy="256032"/>
          </a:xfrm>
          <a:prstGeom prst="rect">
            <a:avLst/>
          </a:prstGeom>
          <a:solidFill>
            <a:srgbClr val="0F2142"/>
          </a:solidFill>
          <a:ln w="12700">
            <a:solidFill>
              <a:srgbClr val="0F21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30718" y="2569464"/>
            <a:ext cx="73152" cy="256032"/>
          </a:xfrm>
          <a:prstGeom prst="rect">
            <a:avLst/>
          </a:prstGeom>
          <a:solidFill>
            <a:srgbClr val="0F2142"/>
          </a:solidFill>
          <a:ln w="12700">
            <a:solidFill>
              <a:srgbClr val="0F21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14338" y="19202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Hanukkah Dec 4-12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84569" y="1920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Christmas Dec 25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844918" y="1920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Valentine’s Feb 14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221456" y="2624328"/>
            <a:ext cx="146304" cy="146304"/>
          </a:xfrm>
          <a:prstGeom prst="ellipse">
            <a:avLst/>
          </a:prstGeom>
          <a:solidFill>
            <a:srgbClr val="5B6478"/>
          </a:solidFill>
          <a:ln w="12700">
            <a:solidFill>
              <a:srgbClr val="5B64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3168" y="19202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 Oct 10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39544" y="2624328"/>
            <a:ext cx="146304" cy="146304"/>
          </a:xfrm>
          <a:prstGeom prst="ellipse">
            <a:avLst/>
          </a:prstGeom>
          <a:solidFill>
            <a:srgbClr val="5B6478"/>
          </a:solidFill>
          <a:ln w="12700">
            <a:solidFill>
              <a:srgbClr val="5B64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98296" y="3108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Thanksgiving Nov 26: text invites go out before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630375" y="2596896"/>
            <a:ext cx="201168" cy="201168"/>
          </a:xfrm>
          <a:prstGeom prst="diamond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19479" y="3108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7A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Oct 16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157606" y="2596896"/>
            <a:ext cx="201168" cy="201168"/>
          </a:xfrm>
          <a:prstGeom prst="diamond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46710" y="3108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7A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 6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66595" y="2596896"/>
            <a:ext cx="201168" cy="201168"/>
          </a:xfrm>
          <a:prstGeom prst="diamond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55699" y="3108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7A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 27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915400" y="1572768"/>
            <a:ext cx="182880" cy="182880"/>
          </a:xfrm>
          <a:prstGeom prst="diamond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89720" y="1527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= order custom by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840480"/>
            <a:ext cx="3502152" cy="1783080"/>
          </a:xfrm>
          <a:prstGeom prst="rect">
            <a:avLst/>
          </a:prstGeom>
          <a:solidFill>
            <a:srgbClr val="0F2142"/>
          </a:solidFill>
          <a:ln w="12700">
            <a:solidFill>
              <a:srgbClr val="0F21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4005072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Hanukkah</a:t>
            </a:r>
            <a:r>
              <a:rPr lang="en-US" sz="1150" dirty="0">
                <a:solidFill>
                  <a:srgbClr val="D5DA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Starts Dec 4</a:t>
            </a:r>
            <a:endParaRPr lang="en-US" sz="1900" dirty="0"/>
          </a:p>
        </p:txBody>
      </p:sp>
      <p:sp>
        <p:nvSpPr>
          <p:cNvPr id="37" name="Shape 35"/>
          <p:cNvSpPr/>
          <p:nvPr/>
        </p:nvSpPr>
        <p:spPr>
          <a:xfrm>
            <a:off x="822960" y="4617720"/>
            <a:ext cx="201168" cy="201168"/>
          </a:xfrm>
          <a:prstGeom prst="diamond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43000" y="4526280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DA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Order custom by  </a:t>
            </a: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Oct 16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43000" y="4937760"/>
            <a:ext cx="2679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5DA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Absolute latest, if all goes well: Nov 13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25112" y="3840480"/>
            <a:ext cx="350215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99432" y="4005072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2142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Christmas</a:t>
            </a:r>
            <a:r>
              <a:rPr lang="en-US" sz="115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Dec 25</a:t>
            </a:r>
            <a:endParaRPr lang="en-US" sz="1900" dirty="0"/>
          </a:p>
        </p:txBody>
      </p:sp>
      <p:sp>
        <p:nvSpPr>
          <p:cNvPr id="42" name="Shape 40"/>
          <p:cNvSpPr/>
          <p:nvPr/>
        </p:nvSpPr>
        <p:spPr>
          <a:xfrm>
            <a:off x="4599432" y="4617720"/>
            <a:ext cx="201168" cy="201168"/>
          </a:xfrm>
          <a:prstGeom prst="diamond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9472" y="4526280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Order custom by  </a:t>
            </a:r>
            <a:r>
              <a:rPr lang="en-US" sz="1700" b="1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 6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919472" y="4937760"/>
            <a:ext cx="2679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Absolute latest, if all goes well: Dec 4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101584" y="3840480"/>
            <a:ext cx="350215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75904" y="4005072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2142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Valentine’s Day</a:t>
            </a:r>
            <a:r>
              <a:rPr lang="en-US" sz="115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Feb 14, 2027</a:t>
            </a:r>
            <a:endParaRPr lang="en-US" sz="1900" dirty="0"/>
          </a:p>
        </p:txBody>
      </p:sp>
      <p:sp>
        <p:nvSpPr>
          <p:cNvPr id="47" name="Shape 45"/>
          <p:cNvSpPr/>
          <p:nvPr/>
        </p:nvSpPr>
        <p:spPr>
          <a:xfrm>
            <a:off x="8375904" y="4617720"/>
            <a:ext cx="201168" cy="201168"/>
          </a:xfrm>
          <a:prstGeom prst="diamond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95944" y="4526280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Order custom by  </a:t>
            </a:r>
            <a:r>
              <a:rPr lang="en-US" sz="1700" b="1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 27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695944" y="4937760"/>
            <a:ext cx="2679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Absolute latest, if all goes well: Jan 24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48640" y="6053328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Recommendation. Basis: simple custom pieces take 1 to 3 weeks (Dumoni), plus 2 to 4 extra weeks in the Nov to Feb rush (Jeffrey White), so 7 weeks is safe and 3 is the floor. Hanukkah dates: AJLuxe. Major brands set Feb 11-12 Valentine’s cutoffs (USA Today).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Zisel</a:t>
            </a:r>
            <a:r>
              <a:rPr lang="en-US" sz="1000" dirty="0">
                <a:solidFill>
                  <a:srgbClr val="AEB6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Market Snapshot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FFFFFF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Seven decisions we need from you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822960" cy="0"/>
          </a:xfrm>
          <a:prstGeom prst="line">
            <a:avLst/>
          </a:prstGeom>
          <a:noFill/>
          <a:ln w="25400">
            <a:solidFill>
              <a:srgbClr val="C6A1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2606040" cy="1828800"/>
          </a:xfrm>
          <a:prstGeom prst="rect">
            <a:avLst/>
          </a:prstGeom>
          <a:solidFill>
            <a:srgbClr val="17305A"/>
          </a:solidFill>
          <a:ln w="12700">
            <a:solidFill>
              <a:srgbClr val="3445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202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C6A15B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Show prices online?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971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A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prices, “from” prices, or none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76879" y="1783080"/>
            <a:ext cx="2606040" cy="1828800"/>
          </a:xfrm>
          <a:prstGeom prst="rect">
            <a:avLst/>
          </a:prstGeom>
          <a:solidFill>
            <a:srgbClr val="17305A"/>
          </a:solidFill>
          <a:ln w="12700">
            <a:solidFill>
              <a:srgbClr val="3445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05479" y="19202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C6A15B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605479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Your real prices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05479" y="2971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A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the 5 to 8 hero pieces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05118" y="1783080"/>
            <a:ext cx="2606040" cy="1828800"/>
          </a:xfrm>
          <a:prstGeom prst="rect">
            <a:avLst/>
          </a:prstGeom>
          <a:solidFill>
            <a:srgbClr val="17305A"/>
          </a:solidFill>
          <a:ln w="12700">
            <a:solidFill>
              <a:srgbClr val="3445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3718" y="19202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C6A15B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433718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Order-by dates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33718" y="2971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A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custom deadlines you can promise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33358" y="1783080"/>
            <a:ext cx="2606040" cy="1828800"/>
          </a:xfrm>
          <a:prstGeom prst="rect">
            <a:avLst/>
          </a:prstGeom>
          <a:solidFill>
            <a:srgbClr val="17305A"/>
          </a:solidFill>
          <a:ln w="12700">
            <a:solidFill>
              <a:srgbClr val="3445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61958" y="19202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C6A15B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4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9261958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Contact details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261958" y="2971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A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Phone, hours, booking link, Instagram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962760" y="3840480"/>
            <a:ext cx="2606040" cy="1828800"/>
          </a:xfrm>
          <a:prstGeom prst="rect">
            <a:avLst/>
          </a:prstGeom>
          <a:solidFill>
            <a:srgbClr val="17305A"/>
          </a:solidFill>
          <a:ln w="12700">
            <a:solidFill>
              <a:srgbClr val="3445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91360" y="39776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C6A15B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5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2191360" y="4617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Real photos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2191360" y="5029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A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 your own pieces, no stock images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90999" y="3840480"/>
            <a:ext cx="2606040" cy="1828800"/>
          </a:xfrm>
          <a:prstGeom prst="rect">
            <a:avLst/>
          </a:prstGeom>
          <a:solidFill>
            <a:srgbClr val="17305A"/>
          </a:solidFill>
          <a:ln w="12700">
            <a:solidFill>
              <a:srgbClr val="3445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9599" y="39776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C6A15B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6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5019599" y="4617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Lab vs natural mix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019599" y="5029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A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much of each in the collection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619238" y="3840480"/>
            <a:ext cx="2606040" cy="1828800"/>
          </a:xfrm>
          <a:prstGeom prst="rect">
            <a:avLst/>
          </a:prstGeom>
          <a:solidFill>
            <a:srgbClr val="17305A"/>
          </a:solidFill>
          <a:ln w="12700">
            <a:solidFill>
              <a:srgbClr val="3445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47838" y="39776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C6A15B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7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7847838" y="4617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Host rewards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847838" y="5029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A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Approve or change the party ladder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A1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Most urgent:  </a:t>
            </a: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order-by dates and contact details, so invites can go out before Thanksgiving.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142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Zisel</a:t>
            </a:r>
            <a:r>
              <a:rPr lang="en-US" sz="100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Market Snapshot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0F2142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Sources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822960" cy="0"/>
          </a:xfrm>
          <a:prstGeom prst="line">
            <a:avLst/>
          </a:prstGeom>
          <a:noFill/>
          <a:ln w="25400">
            <a:solidFill>
              <a:srgbClr val="C6A1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361188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u="sng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Sky Diamonds, about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u="sng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Sky Diamonds, Yelp via Apple Maps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u="sng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Jewelers of Las Vegas, FAQ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u="sng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Jewelers of Las Vegas, custom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u="sng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D&amp;R House of Diamonds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u="sng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D&amp;R reviews, Chamber of Commerce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u="sng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MJ Christensen, custom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u="sng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MJ Christensen, events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u="sng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MJ Christensen reviews (places listing)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u="sng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Dumoni, custom and lead times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u="sng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Dumoni, chain prices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u="sng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Dumoni Instagram count (tracker)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325112" y="1645920"/>
            <a:ext cx="361188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u="sng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Jeffrey White, custom timeline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u="sng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Brilliant Earth, lab tennis bracelet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u="sng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Brilliant Earth, 2026 trends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u="sng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Blue Nile, tennis bracelet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u="sng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Blue Nile, halo studs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u="sng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Blue Nile, six-prong studs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u="sng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Kay, lab studs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u="sng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2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Kay, rope chain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u="sng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2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Van Adams, Black Friday 2025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u="sng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2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Tiffany Victoria bracelet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u="sng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2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Shops at Wynn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u="sng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2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Mejuri, events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101584" y="1645920"/>
            <a:ext cx="361188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u="sng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2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Mejuri Holiday Sip &amp; Shop (LinkedIn)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u="sng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2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Park Lane, hosting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u="sng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2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Touchstone Crystal, hosting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u="sng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2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Finery House, Traveling Jeweler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u="sng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2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Holiday 2026 trends (National Jeweler)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u="sng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3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Dainty London, gift trends 2026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u="sng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3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Nevada Coin Mart, Cuban chains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u="sng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3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CNBC, diamond prices, Sep 26 2026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u="sng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3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FTC, advertising diamonds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u="sng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3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GIA, lab-grown terminology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u="sng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3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AJLuxe, Hanukkah 2026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u="sng" dirty="0">
                <a:solidFill>
                  <a:srgbClr val="0F21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3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USA Today, Valentine’s deadlines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6053328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line is a clickable link. All facts checked October 10, 2026. Website ideas come from our designer’s review of competitor sites.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Zisel Jewelry - Market Snapshot</dc:title>
  <dc:subject>PptxGenJS Presentation</dc:subject>
  <dc:creator>Jonathan Yu</dc:creator>
  <cp:lastModifiedBy>Jonathan Yu</cp:lastModifiedBy>
  <cp:revision>1</cp:revision>
  <dcterms:created xsi:type="dcterms:W3CDTF">2026-10-10T21:55:03Z</dcterms:created>
  <dcterms:modified xsi:type="dcterms:W3CDTF">2026-10-10T21:55:03Z</dcterms:modified>
</cp:coreProperties>
</file>